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8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965"/>
    <p:restoredTop sz="94716"/>
  </p:normalViewPr>
  <p:slideViewPr>
    <p:cSldViewPr snapToGrid="0">
      <p:cViewPr>
        <p:scale>
          <a:sx n="154" d="100"/>
          <a:sy n="154" d="100"/>
        </p:scale>
        <p:origin x="1624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93c701b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93c701b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9420e8701_28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9420e8701_28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816425" y="1838125"/>
            <a:ext cx="8278800" cy="3241800"/>
          </a:xfrm>
          <a:prstGeom prst="roundRect">
            <a:avLst>
              <a:gd name="adj" fmla="val 732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13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6225" y="3834970"/>
            <a:ext cx="1101091" cy="110106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816431" y="35725"/>
            <a:ext cx="3703800" cy="1703400"/>
          </a:xfrm>
          <a:prstGeom prst="roundRect">
            <a:avLst>
              <a:gd name="adj" fmla="val 732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816425" y="62690"/>
            <a:ext cx="2792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1: Psychosocial Stress</a:t>
            </a:r>
            <a:endParaRPr sz="15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619625" y="35725"/>
            <a:ext cx="4475700" cy="1703400"/>
          </a:xfrm>
          <a:prstGeom prst="roundRect">
            <a:avLst>
              <a:gd name="adj" fmla="val 732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4619627" y="35725"/>
            <a:ext cx="2991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2: HPA Axis Mediator</a:t>
            </a:r>
            <a:endParaRPr sz="15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2333" y="700963"/>
            <a:ext cx="1605799" cy="1038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 rotWithShape="1">
          <a:blip r:embed="rId5">
            <a:alphaModFix/>
          </a:blip>
          <a:srcRect l="13321" t="14229" r="12625" b="8395"/>
          <a:stretch/>
        </p:blipFill>
        <p:spPr>
          <a:xfrm>
            <a:off x="4773525" y="521382"/>
            <a:ext cx="921801" cy="963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 rotWithShape="1">
          <a:blip r:embed="rId6">
            <a:alphaModFix/>
          </a:blip>
          <a:srcRect l="59" r="59"/>
          <a:stretch/>
        </p:blipFill>
        <p:spPr>
          <a:xfrm>
            <a:off x="6480410" y="518874"/>
            <a:ext cx="825216" cy="963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imag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53679" y="2438893"/>
            <a:ext cx="1058059" cy="10123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" name="Google Shape;64;p13"/>
          <p:cNvGrpSpPr/>
          <p:nvPr/>
        </p:nvGrpSpPr>
        <p:grpSpPr>
          <a:xfrm>
            <a:off x="7191146" y="2259735"/>
            <a:ext cx="1777251" cy="1665826"/>
            <a:chOff x="6455157" y="1865476"/>
            <a:chExt cx="2556093" cy="2395838"/>
          </a:xfrm>
        </p:grpSpPr>
        <p:pic>
          <p:nvPicPr>
            <p:cNvPr id="65" name="Google Shape;65;p13" title="image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922057">
              <a:off x="6668270" y="1988195"/>
              <a:ext cx="1164326" cy="17654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13" descr="upscale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-2251178" flipH="1">
              <a:off x="7011882" y="2532701"/>
              <a:ext cx="1780583" cy="132325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7" name="Google Shape;67;p13" descr="Upscale and remove watermark."/>
          <p:cNvPicPr preferRelativeResize="0"/>
          <p:nvPr/>
        </p:nvPicPr>
        <p:blipFill rotWithShape="1">
          <a:blip r:embed="rId10">
            <a:alphaModFix/>
          </a:blip>
          <a:srcRect l="17818" t="24538" r="22668" b="23637"/>
          <a:stretch/>
        </p:blipFill>
        <p:spPr>
          <a:xfrm>
            <a:off x="7960150" y="496450"/>
            <a:ext cx="1028763" cy="101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 descr="upscale, turn the black cloud white, remove watermark.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2747391" y="415750"/>
            <a:ext cx="798757" cy="58684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/>
          <p:nvPr/>
        </p:nvSpPr>
        <p:spPr>
          <a:xfrm>
            <a:off x="1251963" y="744701"/>
            <a:ext cx="1620579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Psychosocial Stress </a:t>
            </a:r>
            <a:b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(UKB Score)</a:t>
            </a:r>
          </a:p>
        </p:txBody>
      </p:sp>
      <p:sp>
        <p:nvSpPr>
          <p:cNvPr id="70" name="Google Shape;70;p13"/>
          <p:cNvSpPr txBox="1"/>
          <p:nvPr/>
        </p:nvSpPr>
        <p:spPr>
          <a:xfrm>
            <a:off x="4644367" y="1372027"/>
            <a:ext cx="1165813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Adrenal gland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6290830" y="1371965"/>
            <a:ext cx="1165813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Pituitary gland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7896543" y="1372027"/>
            <a:ext cx="1165813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Hypothalamus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814476" y="1908075"/>
            <a:ext cx="2796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 3: Metabolic Outcomes</a:t>
            </a:r>
            <a:endParaRPr sz="15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4" name="Google Shape;74;p13"/>
          <p:cNvCxnSpPr>
            <a:cxnSpLocks/>
            <a:stCxn id="67" idx="1"/>
            <a:endCxn id="62" idx="3"/>
          </p:cNvCxnSpPr>
          <p:nvPr/>
        </p:nvCxnSpPr>
        <p:spPr>
          <a:xfrm flipH="1" flipV="1">
            <a:off x="7305626" y="1000484"/>
            <a:ext cx="654524" cy="250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p13"/>
          <p:cNvCxnSpPr>
            <a:cxnSpLocks/>
            <a:stCxn id="62" idx="1"/>
            <a:endCxn id="61" idx="3"/>
          </p:cNvCxnSpPr>
          <p:nvPr/>
        </p:nvCxnSpPr>
        <p:spPr>
          <a:xfrm flipH="1">
            <a:off x="5695326" y="1000484"/>
            <a:ext cx="785084" cy="250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" name="Google Shape;76;p13"/>
          <p:cNvSpPr txBox="1"/>
          <p:nvPr/>
        </p:nvSpPr>
        <p:spPr>
          <a:xfrm>
            <a:off x="1522741" y="3427229"/>
            <a:ext cx="562677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Liver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7334833" y="3526615"/>
            <a:ext cx="1249035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Muscle/Adipose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2485748" y="4703284"/>
            <a:ext cx="1165813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Pancreas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 rotWithShape="1">
          <a:blip r:embed="rId12">
            <a:alphaModFix/>
          </a:blip>
          <a:srcRect l="5818" t="5729" r="10464" b="6796"/>
          <a:stretch/>
        </p:blipFill>
        <p:spPr>
          <a:xfrm>
            <a:off x="6235050" y="3931550"/>
            <a:ext cx="798749" cy="834641"/>
          </a:xfrm>
          <a:prstGeom prst="rect">
            <a:avLst/>
          </a:prstGeom>
          <a:solidFill>
            <a:srgbClr val="CFE2F3"/>
          </a:solidFill>
          <a:ln>
            <a:noFill/>
          </a:ln>
        </p:spPr>
      </p:pic>
      <p:sp>
        <p:nvSpPr>
          <p:cNvPr id="80" name="Google Shape;80;p13"/>
          <p:cNvSpPr txBox="1"/>
          <p:nvPr/>
        </p:nvSpPr>
        <p:spPr>
          <a:xfrm>
            <a:off x="4478645" y="3750216"/>
            <a:ext cx="1028701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Glucose in Blood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1" name="Google Shape;81;p13"/>
          <p:cNvCxnSpPr>
            <a:cxnSpLocks/>
            <a:stCxn id="76" idx="3"/>
            <a:endCxn id="55" idx="1"/>
          </p:cNvCxnSpPr>
          <p:nvPr/>
        </p:nvCxnSpPr>
        <p:spPr>
          <a:xfrm>
            <a:off x="2085418" y="3611880"/>
            <a:ext cx="510807" cy="773624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82" name="Google Shape;82;p13"/>
          <p:cNvCxnSpPr>
            <a:cxnSpLocks/>
            <a:stCxn id="55" idx="3"/>
            <a:endCxn id="80" idx="1"/>
          </p:cNvCxnSpPr>
          <p:nvPr/>
        </p:nvCxnSpPr>
        <p:spPr>
          <a:xfrm flipV="1">
            <a:off x="3697316" y="4027200"/>
            <a:ext cx="781329" cy="358304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83" name="Google Shape;83;p13"/>
          <p:cNvSpPr txBox="1"/>
          <p:nvPr/>
        </p:nvSpPr>
        <p:spPr>
          <a:xfrm>
            <a:off x="6065210" y="4699371"/>
            <a:ext cx="1165813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Insulin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4" name="Google Shape;84;p13"/>
          <p:cNvCxnSpPr>
            <a:cxnSpLocks/>
            <a:stCxn id="80" idx="3"/>
            <a:endCxn id="79" idx="1"/>
          </p:cNvCxnSpPr>
          <p:nvPr/>
        </p:nvCxnSpPr>
        <p:spPr>
          <a:xfrm>
            <a:off x="5507346" y="4027200"/>
            <a:ext cx="727704" cy="321671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85" name="Google Shape;85;p13"/>
          <p:cNvCxnSpPr>
            <a:cxnSpLocks/>
            <a:stCxn id="78" idx="3"/>
            <a:endCxn id="83" idx="1"/>
          </p:cNvCxnSpPr>
          <p:nvPr/>
        </p:nvCxnSpPr>
        <p:spPr>
          <a:xfrm flipV="1">
            <a:off x="3651561" y="4884022"/>
            <a:ext cx="2413649" cy="3913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Google Shape;86;p13"/>
          <p:cNvCxnSpPr>
            <a:cxnSpLocks/>
            <a:stCxn id="79" idx="0"/>
          </p:cNvCxnSpPr>
          <p:nvPr/>
        </p:nvCxnSpPr>
        <p:spPr>
          <a:xfrm rot="5400000" flipH="1" flipV="1">
            <a:off x="6333676" y="3152177"/>
            <a:ext cx="1080123" cy="478625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7" name="Google Shape;87;p13"/>
          <p:cNvCxnSpPr/>
          <p:nvPr/>
        </p:nvCxnSpPr>
        <p:spPr>
          <a:xfrm rot="10800000" flipH="1">
            <a:off x="2332396" y="2546251"/>
            <a:ext cx="5021400" cy="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stealth" w="med" len="med"/>
            <a:tailEnd type="stealth" w="med" len="med"/>
          </a:ln>
        </p:spPr>
      </p:cxnSp>
      <p:cxnSp>
        <p:nvCxnSpPr>
          <p:cNvPr id="88" name="Google Shape;88;p13"/>
          <p:cNvCxnSpPr>
            <a:endCxn id="89" idx="1"/>
          </p:cNvCxnSpPr>
          <p:nvPr/>
        </p:nvCxnSpPr>
        <p:spPr>
          <a:xfrm>
            <a:off x="2344488" y="2942628"/>
            <a:ext cx="2082300" cy="4518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0" name="Google Shape;90;p13"/>
          <p:cNvCxnSpPr>
            <a:stCxn id="89" idx="3"/>
            <a:endCxn id="65" idx="1"/>
          </p:cNvCxnSpPr>
          <p:nvPr/>
        </p:nvCxnSpPr>
        <p:spPr>
          <a:xfrm rot="10800000" flipH="1">
            <a:off x="5484862" y="2851428"/>
            <a:ext cx="1869000" cy="543000"/>
          </a:xfrm>
          <a:prstGeom prst="curvedConnector3">
            <a:avLst>
              <a:gd name="adj1" fmla="val 4564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1" name="Google Shape;91;p13"/>
          <p:cNvCxnSpPr/>
          <p:nvPr/>
        </p:nvCxnSpPr>
        <p:spPr>
          <a:xfrm rot="-5400000" flipH="1">
            <a:off x="3765540" y="1700050"/>
            <a:ext cx="860100" cy="837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9" name="Google Shape;89;p13"/>
          <p:cNvPicPr preferRelativeResize="0"/>
          <p:nvPr/>
        </p:nvPicPr>
        <p:blipFill rotWithShape="1">
          <a:blip r:embed="rId13">
            <a:alphaModFix/>
          </a:blip>
          <a:srcRect l="583" r="573"/>
          <a:stretch/>
        </p:blipFill>
        <p:spPr>
          <a:xfrm>
            <a:off x="4426788" y="2929223"/>
            <a:ext cx="1058074" cy="930410"/>
          </a:xfrm>
          <a:prstGeom prst="rect">
            <a:avLst/>
          </a:prstGeom>
          <a:solidFill>
            <a:srgbClr val="CFE2F3"/>
          </a:solidFill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 rotWithShape="1">
          <a:blip r:embed="rId14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119" b="50144"/>
          <a:stretch/>
        </p:blipFill>
        <p:spPr>
          <a:xfrm>
            <a:off x="2344500" y="2345043"/>
            <a:ext cx="282497" cy="1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 rotWithShape="1">
          <a:blip r:embed="rId14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48807" b="117"/>
          <a:stretch/>
        </p:blipFill>
        <p:spPr>
          <a:xfrm>
            <a:off x="7071303" y="2342519"/>
            <a:ext cx="282497" cy="193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 rotWithShape="1">
          <a:blip r:embed="rId14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119" b="50144"/>
          <a:stretch/>
        </p:blipFill>
        <p:spPr>
          <a:xfrm>
            <a:off x="5705149" y="1024413"/>
            <a:ext cx="282497" cy="1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14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119" b="50144"/>
          <a:stretch/>
        </p:blipFill>
        <p:spPr>
          <a:xfrm>
            <a:off x="7393749" y="1024413"/>
            <a:ext cx="282497" cy="1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 rotWithShape="1">
          <a:blip r:embed="rId14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48807" b="117"/>
          <a:stretch/>
        </p:blipFill>
        <p:spPr>
          <a:xfrm>
            <a:off x="1958595" y="3678247"/>
            <a:ext cx="282497" cy="193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/>
          <p:cNvPicPr preferRelativeResize="0"/>
          <p:nvPr/>
        </p:nvPicPr>
        <p:blipFill rotWithShape="1">
          <a:blip r:embed="rId14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119" b="50144"/>
          <a:stretch/>
        </p:blipFill>
        <p:spPr>
          <a:xfrm>
            <a:off x="3673796" y="4131391"/>
            <a:ext cx="282497" cy="1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14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48807" b="117"/>
          <a:stretch/>
        </p:blipFill>
        <p:spPr>
          <a:xfrm>
            <a:off x="5529830" y="3831341"/>
            <a:ext cx="282497" cy="19332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4824061" y="1852489"/>
            <a:ext cx="80576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Cortisol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Secretion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5756819" y="675001"/>
            <a:ext cx="64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ACTH</a:t>
            </a:r>
            <a:endParaRPr sz="1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101;p13">
            <a:extLst>
              <a:ext uri="{FF2B5EF4-FFF2-40B4-BE49-F238E27FC236}">
                <a16:creationId xmlns:a16="http://schemas.microsoft.com/office/drawing/2014/main" id="{660D30D8-9527-ADDB-4A56-FA557EB9844C}"/>
              </a:ext>
            </a:extLst>
          </p:cNvPr>
          <p:cNvSpPr txBox="1"/>
          <p:nvPr/>
        </p:nvSpPr>
        <p:spPr>
          <a:xfrm>
            <a:off x="7383850" y="681421"/>
            <a:ext cx="64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CRH</a:t>
            </a:r>
            <a:endParaRPr sz="1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" name="Google Shape;75;p13">
            <a:extLst>
              <a:ext uri="{FF2B5EF4-FFF2-40B4-BE49-F238E27FC236}">
                <a16:creationId xmlns:a16="http://schemas.microsoft.com/office/drawing/2014/main" id="{E00569A5-DAD7-4CA7-123C-3490AA98E7B3}"/>
              </a:ext>
            </a:extLst>
          </p:cNvPr>
          <p:cNvCxnSpPr>
            <a:cxnSpLocks/>
          </p:cNvCxnSpPr>
          <p:nvPr/>
        </p:nvCxnSpPr>
        <p:spPr>
          <a:xfrm>
            <a:off x="5226945" y="1677574"/>
            <a:ext cx="0" cy="26833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AD42B6-19DD-C032-4E45-317B6A8E61C2}"/>
              </a:ext>
            </a:extLst>
          </p:cNvPr>
          <p:cNvCxnSpPr>
            <a:cxnSpLocks/>
          </p:cNvCxnSpPr>
          <p:nvPr/>
        </p:nvCxnSpPr>
        <p:spPr>
          <a:xfrm flipH="1">
            <a:off x="4575263" y="2118829"/>
            <a:ext cx="37976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9862A20B-6CFC-3E1A-39A1-8845E1C228E9}"/>
              </a:ext>
            </a:extLst>
          </p:cNvPr>
          <p:cNvCxnSpPr>
            <a:cxnSpLocks/>
          </p:cNvCxnSpPr>
          <p:nvPr/>
        </p:nvCxnSpPr>
        <p:spPr>
          <a:xfrm flipV="1">
            <a:off x="5589925" y="1682324"/>
            <a:ext cx="2884613" cy="4426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Google Shape;70;p13">
            <a:extLst>
              <a:ext uri="{FF2B5EF4-FFF2-40B4-BE49-F238E27FC236}">
                <a16:creationId xmlns:a16="http://schemas.microsoft.com/office/drawing/2014/main" id="{64496520-5639-0941-3BDF-CF71C22F74C8}"/>
              </a:ext>
            </a:extLst>
          </p:cNvPr>
          <p:cNvSpPr txBox="1"/>
          <p:nvPr/>
        </p:nvSpPr>
        <p:spPr>
          <a:xfrm rot="1424806">
            <a:off x="2932145" y="2875924"/>
            <a:ext cx="1165813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HGP </a:t>
            </a:r>
            <a:r>
              <a:rPr lang="en-GB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(Production)</a:t>
            </a:r>
            <a:endParaRPr sz="1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0" name="Google Shape;93;p13">
            <a:extLst>
              <a:ext uri="{FF2B5EF4-FFF2-40B4-BE49-F238E27FC236}">
                <a16:creationId xmlns:a16="http://schemas.microsoft.com/office/drawing/2014/main" id="{EF61D4A5-151A-1FA1-2573-5AE4D199520F}"/>
              </a:ext>
            </a:extLst>
          </p:cNvPr>
          <p:cNvPicPr preferRelativeResize="0"/>
          <p:nvPr/>
        </p:nvPicPr>
        <p:blipFill rotWithShape="1">
          <a:blip r:embed="rId14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119" b="50144"/>
          <a:stretch/>
        </p:blipFill>
        <p:spPr>
          <a:xfrm>
            <a:off x="5763982" y="4656336"/>
            <a:ext cx="282497" cy="18825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70;p13">
            <a:extLst>
              <a:ext uri="{FF2B5EF4-FFF2-40B4-BE49-F238E27FC236}">
                <a16:creationId xmlns:a16="http://schemas.microsoft.com/office/drawing/2014/main" id="{CE4BB86E-2357-C29B-B9FD-F1AF16179448}"/>
              </a:ext>
            </a:extLst>
          </p:cNvPr>
          <p:cNvSpPr txBox="1"/>
          <p:nvPr/>
        </p:nvSpPr>
        <p:spPr>
          <a:xfrm>
            <a:off x="1251963" y="3912187"/>
            <a:ext cx="1165813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GB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Insulin-mediated </a:t>
            </a:r>
            <a:r>
              <a:rPr lang="en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HGP </a:t>
            </a:r>
            <a:r>
              <a:rPr lang="en-GB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Suppression</a:t>
            </a:r>
            <a:endParaRPr sz="1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70;p13">
            <a:extLst>
              <a:ext uri="{FF2B5EF4-FFF2-40B4-BE49-F238E27FC236}">
                <a16:creationId xmlns:a16="http://schemas.microsoft.com/office/drawing/2014/main" id="{4099A148-EA65-2103-CEDD-10DE06F8A728}"/>
              </a:ext>
            </a:extLst>
          </p:cNvPr>
          <p:cNvSpPr txBox="1"/>
          <p:nvPr/>
        </p:nvSpPr>
        <p:spPr>
          <a:xfrm rot="19124900">
            <a:off x="5583794" y="2721691"/>
            <a:ext cx="1165813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GB" sz="1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Facilitated Disposal</a:t>
            </a:r>
            <a:endParaRPr sz="1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94;p13">
            <a:extLst>
              <a:ext uri="{FF2B5EF4-FFF2-40B4-BE49-F238E27FC236}">
                <a16:creationId xmlns:a16="http://schemas.microsoft.com/office/drawing/2014/main" id="{5493610A-BAEE-44C9-2B0C-0458D32D0A1B}"/>
              </a:ext>
            </a:extLst>
          </p:cNvPr>
          <p:cNvPicPr preferRelativeResize="0"/>
          <p:nvPr/>
        </p:nvPicPr>
        <p:blipFill rotWithShape="1">
          <a:blip r:embed="rId14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48807" b="117"/>
          <a:stretch/>
        </p:blipFill>
        <p:spPr>
          <a:xfrm>
            <a:off x="8239086" y="1842418"/>
            <a:ext cx="282497" cy="193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5"/>
          <p:cNvPicPr preferRelativeResize="0"/>
          <p:nvPr/>
        </p:nvPicPr>
        <p:blipFill rotWithShape="1">
          <a:blip r:embed="rId3">
            <a:alphaModFix/>
          </a:blip>
          <a:srcRect l="29" r="19"/>
          <a:stretch/>
        </p:blipFill>
        <p:spPr>
          <a:xfrm>
            <a:off x="-35700" y="0"/>
            <a:ext cx="9210675" cy="5147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50</Words>
  <Application>Microsoft Macintosh PowerPoint</Application>
  <PresentationFormat>On-screen Show (16:9)</PresentationFormat>
  <Paragraphs>19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Rezi Getsadze</cp:lastModifiedBy>
  <cp:revision>5</cp:revision>
  <dcterms:modified xsi:type="dcterms:W3CDTF">2026-02-19T18:44:55Z</dcterms:modified>
</cp:coreProperties>
</file>